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/ 10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621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Vision</c:v>
                  </c:pt>
                  <c:pt idx="1">
                    <c:v>UI/UX</c:v>
                  </c:pt>
                  <c:pt idx="2">
                    <c:v>AI capabilities</c:v>
                  </c:pt>
                  <c:pt idx="3">
                    <c:v>Backend architecture</c:v>
                  </c:pt>
                  <c:pt idx="4">
                    <c:v>Enterprise readiness</c:v>
                  </c:pt>
                  <c:pt idx="5">
                    <c:v>Security features</c:v>
                  </c:pt>
                  <c:pt idx="6">
                    <c:v>Compliance</c:v>
                  </c:pt>
                  <c:pt idx="7">
                    <c:v>Legal readiness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9.8</c:v>
                </c:pt>
                <c:pt idx="1">
                  <c:v>8.8</c:v>
                </c:pt>
                <c:pt idx="2">
                  <c:v>8.6</c:v>
                </c:pt>
                <c:pt idx="3">
                  <c:v>8.2</c:v>
                </c:pt>
                <c:pt idx="4">
                  <c:v>7</c:v>
                </c:pt>
                <c:pt idx="5">
                  <c:v>7.2</c:v>
                </c:pt>
                <c:pt idx="6">
                  <c:v>5.5</c:v>
                </c:pt>
                <c:pt idx="7">
                  <c:v>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50" u="none">
                  <a:solidFill>
                    <a:srgbClr val="1621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9525" cap="flat">
              <a:solidFill>
                <a:srgbClr val="E2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117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0F6E6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SecuraIQ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042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9966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 security platform for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team, blue team, VAPT,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intel, and GRC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run ten disconnected tools and still can't answer “what's our real posture?” in one place. SecuraIQ orchestrates the tools you already trust into one evidence-grounded AI workflow.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504188" cy="402336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5778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/ VAPT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08860" y="5577840"/>
            <a:ext cx="1504188" cy="402336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8860" y="5577840"/>
            <a:ext cx="15041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/ XDR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5577840"/>
            <a:ext cx="1243584" cy="402336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557784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85816" y="5577840"/>
            <a:ext cx="1591056" cy="402336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85816" y="55778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GRC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41464" y="5577840"/>
            <a:ext cx="1591056" cy="402336"/>
          </a:xfrm>
          <a:prstGeom prst="roundRect">
            <a:avLst>
              <a:gd name="adj" fmla="val 50000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41464" y="557784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alpha · closed-beta ready · securaiq.ai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work is scattered across tools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don't talk to each other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confident-beautiful-carson/mnt/outputs/secura_deck/icons/bug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585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9260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live in five formats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4672" y="374904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Trivy, Semgrep, Nessus exports pile up as unread files — nobody correlates them into one risk picture.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sessions/confident-beautiful-carson/mnt/outputs/secura_deck/icons/clipboard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25856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29260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a spreadsheet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547872" y="374904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mapping for ISO 27001 or SOC 2 is manual, so audits become a scramble every single cycle.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sessions/confident-beautiful-carson/mnt/outputs/secura_deck/icons/bell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25856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1072" y="29260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outrun analysts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291072" y="374904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and SIEM tools fire more alerts than a team can triage, and most get closed without real investigation.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778240" y="196596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/sessions/confident-beautiful-carson/mnt/outputs/secura_deck/icons/network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225856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34272" y="292608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source of truth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034272" y="374904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team, blue team, and GRC each keep their own tracker — leadership gets three different answers.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SecuraIQ is the orchestration layer,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point tool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your SIEM, EDR, or GRC suite — it connects them, correlates what they find, and puts an AI analyst on top that always shows its sources.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38328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tools &amp;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41148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Scanners, SIEM, EDR, cloud posture, manual uploads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34975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47872" y="278892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338328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SecuraIQ platform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41148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RAG · guardrails · background jobs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9904" y="34975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47104" y="278892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48272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48272" y="338328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8272" y="41148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findings, risk register, knowledge graph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89136" y="34975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546336" y="2788920"/>
            <a:ext cx="2542032" cy="1965960"/>
          </a:xfrm>
          <a:prstGeom prst="roundRect">
            <a:avLst>
              <a:gd name="adj" fmla="val 5581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47504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47504" y="3383280"/>
            <a:ext cx="2139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· tasks · compliance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47504" y="411480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decks, tickets, evidence, control mapping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Not a SIEM/EDR/GRC replacement. An AI layer over structured security workflows.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disciplines, one workspace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2194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6" name="Image 0" descr="/sessions/confident-beautiful-carson/mnt/outputs/secura_deck/icons/crosshai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134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999232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&amp; VAPT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379476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recon/scan tools, authorized-target guardrails, scored hardening baseline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761488" y="192024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80944" y="2194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11" name="Image 1" descr="/sessions/confident-beautiful-carson/mnt/outputs/secura_deck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23134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2999232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 team &amp; XDR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62656" y="379476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desk, incidents, playbooks, live EDR/XDR + SIEM ingestion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974336" y="192024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93792" y="2194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16" name="Image 2" descr="/sessions/confident-beautiful-carson/mnt/outputs/secura_deck/icons/ra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231343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2999232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175504" y="379476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KEV, NVD, MITRE ATT&amp;CK, OTX, GreyNoise — watchlisted and AI-summarized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187184" y="192024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06640" y="2194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21" name="Image 3" descr="/sessions/confident-beautiful-carson/mnt/outputs/secura_deck/icons/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31343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2999232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GRC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88352" y="379476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27001/27701, NIST CSF, CIS, SOC 2, PCI, HIPAA, GDPR, ASVS gap analysis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400032" y="192024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619488" y="21945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26" name="Image 4" descr="/sessions/confident-beautiful-carson/mnt/outputs/secura_deck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231343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01200" y="2999232"/>
            <a:ext cx="16642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4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orchestration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601200" y="3794760"/>
            <a:ext cx="16642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chat, cited sources, confidence scoring, human approval gates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OFFENSE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Authorized VAPT, built to refuse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shouldn't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39776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Port, HTTP, TLS, DNS, and header-security probes as fast built-ins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orchestration: nmap, nikto, nuclei, zap, sqlmap, wpscan, gobuster, ffuf, sslscan, and more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patch-exposure baseline — scores TLS, headers, SPF/DMARC, and risky exposed ports, then folds in real missing-patch data from connected EDR</a:t>
            </a:r>
            <a:endParaRPr lang="en-US" sz="1250" dirty="0"/>
          </a:p>
          <a:p>
            <a:pPr marL="177800" indent="-1778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probe runs through an authorization gate: private/lab IPs auto-approved, public IPs require explicit confirmed ownership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553712" cy="3977640"/>
          </a:xfrm>
          <a:prstGeom prst="roundRect">
            <a:avLst>
              <a:gd name="adj" fmla="val 2759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in practice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“Scan 8.8.8.8”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78892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2880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public IP requires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target confirmation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0664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hardening baseline on 192.168.56.101”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411480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4206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Auto-authorized (private range) →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report with detection + fix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06640" y="5074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refusal logic blocks crimeware/malware-authoring requests — offers authorized-lab alternatives instead.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SOC desk pulling from every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 and SIEM you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66544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confident-beautiful-carson/mnt/outputs/secura_deck/icons/plug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2585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Sophos Central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71576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alerts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61488" y="1691640"/>
            <a:ext cx="2066544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sessions/confident-beautiful-carson/mnt/outputs/secura_deck/icons/plug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8745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44368" y="22585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CrowdStrike Falcon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944368" y="271576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detections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974336" y="1691640"/>
            <a:ext cx="2066544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sessions/confident-beautiful-carson/mnt/outputs/secura_deck/icons/plug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18745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7216" y="22585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SentinelOne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157216" y="271576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· threats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7187184" y="1691640"/>
            <a:ext cx="2066544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/sessions/confident-beautiful-carson/mnt/outputs/secura_deck/icons/plug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18745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70064" y="22585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Defender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370064" y="271576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· alerts + missing-patch data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9400032" y="1691640"/>
            <a:ext cx="2066544" cy="1417320"/>
          </a:xfrm>
          <a:prstGeom prst="roundRect">
            <a:avLst>
              <a:gd name="adj" fmla="val 7742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sessions/confident-beautiful-carson/mnt/outputs/secura_deck/icons/plug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187452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82912" y="225856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9582912" y="271576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JWT · SOC sync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48640" y="333756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86868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incident, automatically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868680" y="39776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detections poll every 30 minutes (configurable)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 findings open a real incident — not a copy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patches become tracked vulnerability records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Slack/Teams/email fire the same alert path as human-created findings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897880" y="3337560"/>
            <a:ext cx="5742432" cy="2331720"/>
          </a:xfrm>
          <a:prstGeom prst="roundRect">
            <a:avLst>
              <a:gd name="adj" fmla="val 4706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621792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on the SOC desk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217920" y="397764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lifecycle: open → triage → closed, with owners and playbooks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Open-AudIT CMDB sync for asset inventory ground truth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links assets ↔ risks ↔ vulns ↔ controls ↔ incidents</a:t>
            </a:r>
            <a:endParaRPr lang="en-US" sz="1150" dirty="0"/>
          </a:p>
          <a:p>
            <a:pPr marL="152400" indent="-152400">
              <a:lnSpc>
                <a:spcPts val="155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Mission Control dashboard: score, trend, top risks, work queue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INTELLIGENCE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 answer shows its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 feeds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KEV — synced known-exploited catalog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— on-demand CVE lookup and detail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— technique mapping heuristics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AlienVault OTX, GreyNoise, URLScan, MSRC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/ CVE watchlists with AI-generated briefs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6916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trust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65392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— every RAG answer links back to the source document and similarity score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badges — high / medium / low / unknown, visible inline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gates — destructive actions need a delivered confirmation code, never returned in the API response itself</a:t>
            </a:r>
            <a:endParaRPr lang="en-US" sz="1250" dirty="0"/>
          </a:p>
          <a:p>
            <a:pPr marL="152400" indent="-1524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validation — magic-byte checks, not just extensions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without the spreadsheet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8016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75104" y="1783080"/>
            <a:ext cx="128016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5104" y="178308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27701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118872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783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36592" y="1783080"/>
            <a:ext cx="155448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783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37376" y="1783080"/>
            <a:ext cx="91440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1783080"/>
            <a:ext cx="109728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7830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41664" y="1783080"/>
            <a:ext cx="91440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41664" y="17830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802368" y="1783080"/>
            <a:ext cx="82296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02368" y="178308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771632" y="1783080"/>
            <a:ext cx="1371600" cy="420624"/>
          </a:xfrm>
          <a:prstGeom prst="roundRect">
            <a:avLst>
              <a:gd name="adj" fmla="val 21739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71632" y="1783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514600"/>
            <a:ext cx="5394960" cy="3154680"/>
          </a:xfrm>
          <a:prstGeom prst="roundRect">
            <a:avLst>
              <a:gd name="adj" fmla="val 3478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 → evidence → remediation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3154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framework gap assessment against your current posture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detail drawer: owner, risk, status, linked evidence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mapper links uploads directly to specific controls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executive, board, and technical report exports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45352" y="2514600"/>
            <a:ext cx="5394960" cy="3154680"/>
          </a:xfrm>
          <a:prstGeom prst="roundRect">
            <a:avLst>
              <a:gd name="adj" fmla="val 3478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65392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65392" y="3154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CRUD: threat, vulnerability, asset, impact, likelihood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mitigation tracked per risk, exportable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map visualization on the executive dashboard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correlates risk ↔ vuln ↔ control ↔ incident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controls and help gather evidence — we do not claim to certify your organization.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foundation, not a weekend 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sessions/confident-beautiful-carson/mnt/outputs/secura_deck/icons/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67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7889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(TOTP), OIDC SSO, RBAC, API keys, per-route auth enforcement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87452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/sessions/confident-beautiful-carson/mnt/outputs/secura_deck/icons/databas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1671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27889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47872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encrypted at rest, automated backup/restore, audit log on every action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0" y="187452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/sessions/confident-beautiful-carson/mnt/outputs/secura_deck/icons/char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1671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1072" y="27889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91072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metrics, optional Sentry error reporting, background job engine + Prefect bridge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778240" y="1874520"/>
            <a:ext cx="2542032" cy="3566160"/>
          </a:xfrm>
          <a:prstGeom prst="roundRect">
            <a:avLst>
              <a:gd name="adj" fmla="val 431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/sessions/confident-beautiful-carson/mnt/outputs/secura_deck/icons/balanc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216712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34272" y="2788920"/>
            <a:ext cx="2029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034272" y="361188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CI security scanning (pip-audit, Bandit, Gitleaks, Trivy, Checkov), multi-tenant orgs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local-first architecture —</a:t>
            </a:r>
            <a:endParaRPr lang="en-US" sz="3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vendor lock-in on the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66360" cy="4023360"/>
          </a:xfrm>
          <a:prstGeom prst="roundRect">
            <a:avLst>
              <a:gd name="adj" fmla="val 2727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SQLite today → PostgreSQL profile ready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 by default; Qdrant profile optional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router: local Ollama / Hermes / Unsloth fine-tunes, or cloud OpenAI, Groq, OpenRouter, Together, Fireworks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job queue + scheduler; Prefect bridge for heavier flows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71032" y="1737360"/>
            <a:ext cx="5669280" cy="4023360"/>
          </a:xfrm>
          <a:prstGeom prst="roundRect">
            <a:avLst>
              <a:gd name="adj" fmla="val 2727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 tools cataloged, honestly labeled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91072" y="23774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in the catalog is tagged shipped, import, path, or planned — nothing is marketed as live before the code backs it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320040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331012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45936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&amp;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07808" y="320040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331012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62672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adapters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24544" y="320040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24544" y="331012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79408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PATH-detected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241280" y="3200400"/>
            <a:ext cx="120700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331012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296144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91072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i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Doctrine: integrate mature tools — SecuraIQ orchestrates findings, evidence, and AI. It does not rebuild scanners or SIEMs.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Straightforward, usage-based pricing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4297680"/>
          </a:xfrm>
          <a:prstGeom prst="roundRect">
            <a:avLst>
              <a:gd name="adj" fmla="val 41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203911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8096" y="295351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messages / month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8096" y="3383280"/>
            <a:ext cx="2231136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566160"/>
            <a:ext cx="22311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local-first platform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VAPT &amp; recon tools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670048" cy="4297680"/>
          </a:xfrm>
          <a:prstGeom prst="roundRect">
            <a:avLst>
              <a:gd name="adj" fmla="val 41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03911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02736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</a:t>
            </a:r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02736" y="295351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messages / month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02736" y="3383280"/>
            <a:ext cx="2231136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3566160"/>
            <a:ext cx="22311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Community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routing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email support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670048" cy="4297680"/>
          </a:xfrm>
          <a:prstGeom prst="roundRect">
            <a:avLst>
              <a:gd name="adj" fmla="val 4110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819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819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37376" y="203911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$199</a:t>
            </a:r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37376" y="295351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messages / month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37376" y="3383280"/>
            <a:ext cx="2231136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3566160"/>
            <a:ext cx="22311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orgs &amp; RBAC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EDR/XDR + SIEM connectors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052560" y="1783080"/>
            <a:ext cx="2670048" cy="4297680"/>
          </a:xfrm>
          <a:prstGeom prst="roundRect">
            <a:avLst>
              <a:gd name="adj" fmla="val 41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72016" y="203911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242316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72016" y="295351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messages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72016" y="3383280"/>
            <a:ext cx="2231136" cy="0"/>
          </a:xfrm>
          <a:prstGeom prst="line">
            <a:avLst/>
          </a:prstGeom>
          <a:noFill/>
          <a:ln w="12700">
            <a:solidFill>
              <a:srgbClr val="E2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3566160"/>
            <a:ext cx="22311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Business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SCIM, audit SLA</a:t>
            </a:r>
            <a:endParaRPr lang="en-US" sz="1080" dirty="0"/>
          </a:p>
          <a:p>
            <a:pPr marL="152400" indent="-152400">
              <a:lnSpc>
                <a:spcPts val="1450"/>
              </a:lnSpc>
              <a:spcAft>
                <a:spcPts val="900"/>
              </a:spcAft>
              <a:buSzPct val="100000"/>
              <a:buChar char="✓"/>
            </a:pPr>
            <a:r>
              <a:rPr lang="en-US" sz="108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option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Pro run today via the built-in usage meter. Business/Enterprise billing activates the moment a Stripe account is connected — the checkout + webhook path already ships in code.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editions, one codebase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offensive/defensive security hands-on, local-first, no data leaves the machine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761488" y="182880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44368" y="25420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consultants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4368" y="329184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authorized client engagements with a full VAPT + reporting toolkit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4974336" y="182880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57216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57216" y="25420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security teams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57216" y="329184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workspace, RBAC, live EDR/XDR + SIEM ingestion for a growing team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87184" y="182880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70064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70064" y="25420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organizations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70064" y="329184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SSO/SCIM, audit SLA, dedicated support, compliance-heavy environments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400032" y="1828800"/>
            <a:ext cx="2066544" cy="3703320"/>
          </a:xfrm>
          <a:prstGeom prst="roundRect">
            <a:avLst>
              <a:gd name="adj" fmla="val 531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82912" y="21031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82912" y="25420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/ classified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82912" y="329184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 inside your perimeter — nothing calls out by default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→ dogfood → convert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719072" y="1600200"/>
            <a:ext cx="201168" cy="20116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700784"/>
            <a:ext cx="2798064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03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alpha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dogfood on real engagements; core workflows + Mission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304" y="1600200"/>
            <a:ext cx="201168" cy="201168"/>
          </a:xfrm>
          <a:prstGeom prst="ellipse">
            <a:avLst/>
          </a:prstGeom>
          <a:solidFill>
            <a:srgbClr val="E2E8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1700784"/>
            <a:ext cx="2798064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92024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2103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103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30752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beta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30752" y="301752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partners, MFA/SSO enforced, monitoring + backups live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17536" y="1600200"/>
            <a:ext cx="201168" cy="201168"/>
          </a:xfrm>
          <a:prstGeom prst="ellipse">
            <a:avLst/>
          </a:prstGeom>
          <a:solidFill>
            <a:srgbClr val="E2E8ED"/>
          </a:solidFill>
          <a:ln/>
        </p:spPr>
      </p:sp>
      <p:sp>
        <p:nvSpPr>
          <p:cNvPr id="19" name="Shape 17"/>
          <p:cNvSpPr/>
          <p:nvPr/>
        </p:nvSpPr>
        <p:spPr>
          <a:xfrm>
            <a:off x="7918704" y="1700784"/>
            <a:ext cx="2798064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192024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9984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launch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9984" y="301752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billing, status page, TLS/DR runbooks, docs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716768" y="1600200"/>
            <a:ext cx="201168" cy="201168"/>
          </a:xfrm>
          <a:prstGeom prst="ellipse">
            <a:avLst/>
          </a:prstGeom>
          <a:solidFill>
            <a:srgbClr val="E2E8ED"/>
          </a:solidFill>
          <a:ln/>
        </p:spPr>
      </p:sp>
      <p:sp>
        <p:nvSpPr>
          <p:cNvPr id="24" name="Shape 22"/>
          <p:cNvSpPr/>
          <p:nvPr/>
        </p:nvSpPr>
        <p:spPr>
          <a:xfrm>
            <a:off x="9546336" y="1920240"/>
            <a:ext cx="2542032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29216" y="25146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29216" y="301752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SSO/SCIM, SLA-backed support, on-premises packaging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motion: build → use on real Swana Techno engagements → refine from that dogfood → convert engagement clients into subscribers.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0881360" cy="960120"/>
          </a:xfrm>
          <a:prstGeom prst="roundRect">
            <a:avLst>
              <a:gd name="adj" fmla="val 11429"/>
            </a:avLst>
          </a:prstGeom>
          <a:solidFill>
            <a:srgbClr val="E9F6F4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349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not doing (near term): replacing SIEM/EDR/GRC suites · crimeware workflows · claiming our own SOC 2/ISO certification before dogfooding · “guaranteed compliance” or “100% secure” marketing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REALLY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readiness — not a hype score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79392" cy="1965960"/>
          </a:xfrm>
          <a:prstGeom prst="roundRect">
            <a:avLst>
              <a:gd name="adj" fmla="val 5581"/>
            </a:avLst>
          </a:prstGeom>
          <a:solidFill>
            <a:srgbClr val="E9F6F4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</a:t>
            </a:r>
            <a:pPr indent="0" marL="0">
              <a:buNone/>
            </a:pPr>
            <a:r>
              <a:rPr lang="en-US" sz="18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635240" y="2697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launch readiness — closed-beta candidate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5.5 last review — 12 of 13 code-completable gaps closed this pass.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60920" y="3886200"/>
            <a:ext cx="4279392" cy="2057400"/>
          </a:xfrm>
          <a:prstGeom prst="roundRect">
            <a:avLst>
              <a:gd name="adj" fmla="val 5333"/>
            </a:avLst>
          </a:prstGeom>
          <a:solidFill>
            <a:srgbClr val="F4F7F8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63524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before public launch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35240" y="443484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sign-off on legal drafts (not an engineering task)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Stripe account for real payment collection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certificate issuance on a production domain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0F6E6A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see it on your own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E8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data?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scanner export or point it at a lab VM — SecuraIQ runs locally, so nothing leaves your environment until you decide to connect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1422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4165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Closed-beta design partner slots open now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4873752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946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the team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221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hello@securaiq.ai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5678424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111821"/>
          </a:solidFill>
          <a:ln w="12700">
            <a:solidFill>
              <a:srgbClr val="2732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7515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docs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60258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readiness, architecture, and API reference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SecuraIQ — AI Security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2026-08-13T06:46:00Z</dcterms:created>
  <dcterms:modified xsi:type="dcterms:W3CDTF">2026-08-13T06:46:00Z</dcterms:modified>
</cp:coreProperties>
</file>